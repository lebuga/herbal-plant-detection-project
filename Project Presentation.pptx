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37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5" r:id="rId8"/>
    <p:sldId id="266" r:id="rId9"/>
    <p:sldId id="267" r:id="rId10"/>
    <p:sldId id="268" r:id="rId11"/>
    <p:sldId id="269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7" roundtripDataSignature="AMtx7mifX52E/O2vMdvfztXTaB/Ggd8j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4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4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ysClr val="windowText" lastClr="000000"/>
                </a:solidFill>
                <a:latin typeface="+mj-lt"/>
                <a:ea typeface="+mj-ea"/>
                <a:cs typeface="+mj-cs"/>
              </a:defRPr>
            </a:pPr>
            <a:r>
              <a:rPr lang="en-GB"/>
              <a:t>Faster R-CNN Training Loss Curve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ysClr val="windowText" lastClr="000000"/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2039658808963361E-2"/>
          <c:y val="0.1790481626516828"/>
          <c:w val="0.88868285214348208"/>
          <c:h val="0.67262357830271213"/>
        </c:manualLayout>
      </c:layout>
      <c:scatterChart>
        <c:scatterStyle val="smoothMarker"/>
        <c:varyColors val="0"/>
        <c:ser>
          <c:idx val="0"/>
          <c:order val="0"/>
          <c:spPr>
            <a:ln w="9525" cap="rnd">
              <a:solidFill>
                <a:schemeClr val="tx1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lt1"/>
              </a:solidFill>
              <a:ln w="15875">
                <a:solidFill>
                  <a:schemeClr val="tx1"/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yVal>
            <c:numRef>
              <c:f>Sheet1!$H$7:$H$16</c:f>
              <c:numCache>
                <c:formatCode>General</c:formatCode>
                <c:ptCount val="10"/>
                <c:pt idx="0">
                  <c:v>130.71889999999999</c:v>
                </c:pt>
                <c:pt idx="1">
                  <c:v>95.710099999999997</c:v>
                </c:pt>
                <c:pt idx="2">
                  <c:v>74.813400000000001</c:v>
                </c:pt>
                <c:pt idx="3">
                  <c:v>61.937899999999999</c:v>
                </c:pt>
                <c:pt idx="4">
                  <c:v>52.351199999999999</c:v>
                </c:pt>
                <c:pt idx="5">
                  <c:v>47.351199999999999</c:v>
                </c:pt>
                <c:pt idx="6">
                  <c:v>42.7607</c:v>
                </c:pt>
                <c:pt idx="7">
                  <c:v>38.4514</c:v>
                </c:pt>
                <c:pt idx="8">
                  <c:v>35.178400000000003</c:v>
                </c:pt>
                <c:pt idx="9">
                  <c:v>32.481299999999997</c:v>
                </c:pt>
              </c:numCache>
            </c:numRef>
          </c:yVal>
          <c:smooth val="1"/>
        </c:ser>
        <c:dLbls>
          <c:dLblPos val="l"/>
          <c:showLegendKey val="0"/>
          <c:showVal val="1"/>
          <c:showCatName val="0"/>
          <c:showSerName val="0"/>
          <c:showPercent val="0"/>
          <c:showBubbleSize val="0"/>
        </c:dLbls>
        <c:axId val="235126616"/>
        <c:axId val="235127400"/>
      </c:scatterChart>
      <c:valAx>
        <c:axId val="2351266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Epochs</a:t>
                </a:r>
              </a:p>
            </c:rich>
          </c:tx>
          <c:layout>
            <c:manualLayout>
              <c:xMode val="edge"/>
              <c:yMode val="edge"/>
              <c:x val="0.49544313210848656"/>
              <c:y val="0.9157174103237095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5127400"/>
        <c:crosses val="autoZero"/>
        <c:crossBetween val="midCat"/>
      </c:valAx>
      <c:valAx>
        <c:axId val="235127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Training Loss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5126616"/>
        <c:crosses val="autoZero"/>
        <c:crossBetween val="midCat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solidFill>
            <a:schemeClr val="tx1"/>
          </a:solidFill>
        </a:ln>
        <a:effectLst/>
      </c:spPr>
    </c:plotArea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>
          <a:solidFill>
            <a:sysClr val="windowText" lastClr="000000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6955438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8134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12784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34918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75927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38041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831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03767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86915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72438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54305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52755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4062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9FBD9A6-F4F7-4C81-8C3B-C6430A865157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</a:t>
            </a:r>
            <a:fld id="{00000000-1234-1234-1234-123412341234}" type="slidenum">
              <a:rPr lang="en-US" smtClean="0"/>
              <a:pPr/>
              <a:t>‹#›</a:t>
            </a:fld>
            <a:endParaRPr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Makerere University College of Computing &amp; Information Sciences (CoCIS)">
            <a:extLst>
              <a:ext uri="{FF2B5EF4-FFF2-40B4-BE49-F238E27FC236}">
                <a16:creationId xmlns="" xmlns:a16="http://schemas.microsoft.com/office/drawing/2014/main" id="{63364D16-397A-A16E-95C8-EFCBAB66D8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Makerere University - data.org">
            <a:extLst>
              <a:ext uri="{FF2B5EF4-FFF2-40B4-BE49-F238E27FC236}">
                <a16:creationId xmlns="" xmlns:a16="http://schemas.microsoft.com/office/drawing/2014/main" id="{F80BC8B0-28EA-762F-0D7A-5B6334F51B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756" y="10553"/>
            <a:ext cx="704660" cy="600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7230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C338-E682-4B46-9632-D57B5813D09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Makerere University College of Computing &amp; Information Sciences (CoCIS)">
            <a:extLst>
              <a:ext uri="{FF2B5EF4-FFF2-40B4-BE49-F238E27FC236}">
                <a16:creationId xmlns="" xmlns:a16="http://schemas.microsoft.com/office/drawing/2014/main" id="{4F89D84E-2BC7-4D37-DB09-CC9EC19BEC8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6900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Makerere University College of Computing &amp; Information Sciences (CoCIS)">
            <a:extLst>
              <a:ext uri="{FF2B5EF4-FFF2-40B4-BE49-F238E27FC236}">
                <a16:creationId xmlns="" xmlns:a16="http://schemas.microsoft.com/office/drawing/2014/main" id="{B178440F-7742-4EF6-4D36-FA77822320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Makerere University - data.org">
            <a:extLst>
              <a:ext uri="{FF2B5EF4-FFF2-40B4-BE49-F238E27FC236}">
                <a16:creationId xmlns="" xmlns:a16="http://schemas.microsoft.com/office/drawing/2014/main" id="{DFFA85FC-D464-4A1E-D99E-06ECBF3D5E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756" y="10553"/>
            <a:ext cx="704660" cy="600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0043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Makerere University College of Computing &amp; Information Sciences (CoCIS)">
            <a:extLst>
              <a:ext uri="{FF2B5EF4-FFF2-40B4-BE49-F238E27FC236}">
                <a16:creationId xmlns="" xmlns:a16="http://schemas.microsoft.com/office/drawing/2014/main" id="{DB6798A6-D4E5-DDF7-CD1E-636FF7036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64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2" descr="Makerere University College of Computing &amp; Information Sciences (CoCIS)">
            <a:extLst>
              <a:ext uri="{FF2B5EF4-FFF2-40B4-BE49-F238E27FC236}">
                <a16:creationId xmlns="" xmlns:a16="http://schemas.microsoft.com/office/drawing/2014/main" id="{E2D8642E-3B24-38FE-1A15-7D064D01102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410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2" descr="Makerere University College of Computing &amp; Information Sciences (CoCIS)">
            <a:extLst>
              <a:ext uri="{FF2B5EF4-FFF2-40B4-BE49-F238E27FC236}">
                <a16:creationId xmlns="" xmlns:a16="http://schemas.microsoft.com/office/drawing/2014/main" id="{AAEE5B36-4AC6-34D0-3EE3-75ECA02E60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5124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" descr="Makerere University College of Computing &amp; Information Sciences (CoCIS)">
            <a:extLst>
              <a:ext uri="{FF2B5EF4-FFF2-40B4-BE49-F238E27FC236}">
                <a16:creationId xmlns="" xmlns:a16="http://schemas.microsoft.com/office/drawing/2014/main" id="{5DFE70A8-8DEC-E1E0-0F80-3CC5E4283A6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9258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2" descr="Makerere University College of Computing &amp; Information Sciences (CoCIS)">
            <a:extLst>
              <a:ext uri="{FF2B5EF4-FFF2-40B4-BE49-F238E27FC236}">
                <a16:creationId xmlns="" xmlns:a16="http://schemas.microsoft.com/office/drawing/2014/main" id="{8D6953CF-067D-E709-05F8-F0DD3D17A8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5677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Makerere University College of Computing &amp; Information Sciences (CoCIS)">
            <a:extLst>
              <a:ext uri="{FF2B5EF4-FFF2-40B4-BE49-F238E27FC236}">
                <a16:creationId xmlns="" xmlns:a16="http://schemas.microsoft.com/office/drawing/2014/main" id="{F0389045-4EC2-D8FE-3AD1-AB97C511A5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576664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 descr="Makerere University College of Computing &amp; Information Sciences (CoCIS)">
            <a:extLst>
              <a:ext uri="{FF2B5EF4-FFF2-40B4-BE49-F238E27FC236}">
                <a16:creationId xmlns="" xmlns:a16="http://schemas.microsoft.com/office/drawing/2014/main" id="{E3D776D8-4C08-7E05-5A99-451839D024E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4775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Makerere University College of Computing &amp; Information Sciences (CoCIS)">
            <a:extLst>
              <a:ext uri="{FF2B5EF4-FFF2-40B4-BE49-F238E27FC236}">
                <a16:creationId xmlns="" xmlns:a16="http://schemas.microsoft.com/office/drawing/2014/main" id="{EAAD6571-8582-73A0-E399-4E24B7F44E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283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C9FBD9A6-F4F7-4C81-8C3B-C6430A865157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Makerere University - data.org">
            <a:extLst>
              <a:ext uri="{FF2B5EF4-FFF2-40B4-BE49-F238E27FC236}">
                <a16:creationId xmlns="" xmlns:a16="http://schemas.microsoft.com/office/drawing/2014/main" id="{DE1A894A-8052-B57C-2DF3-1C78D4ABAF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756" y="10553"/>
            <a:ext cx="704660" cy="600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Makerere University College of Computing &amp; Information Sciences (CoCIS)">
            <a:extLst>
              <a:ext uri="{FF2B5EF4-FFF2-40B4-BE49-F238E27FC236}">
                <a16:creationId xmlns="" xmlns:a16="http://schemas.microsoft.com/office/drawing/2014/main" id="{67475E0E-31FE-D872-A2E6-0821144EF9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9829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spaces/Lebuga/herbal-plant-detecto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/>
          <p:nvPr/>
        </p:nvSpPr>
        <p:spPr>
          <a:xfrm>
            <a:off x="475862" y="813320"/>
            <a:ext cx="10535440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GB" sz="3200" b="1" dirty="0"/>
              <a:t>DEPARTMENT OF COMPUTER SCIENCE</a:t>
            </a:r>
            <a:endParaRPr lang="en-GB" sz="3200" dirty="0"/>
          </a:p>
          <a:p>
            <a:pPr algn="ctr"/>
            <a:r>
              <a:rPr lang="en-GB" sz="3200" b="1" dirty="0" err="1"/>
              <a:t>Msc</a:t>
            </a:r>
            <a:r>
              <a:rPr lang="en-GB" sz="3200" b="1" dirty="0"/>
              <a:t>. in computer science</a:t>
            </a:r>
            <a:endParaRPr lang="en-GB" sz="3200" dirty="0"/>
          </a:p>
          <a:p>
            <a:pPr algn="ctr"/>
            <a:r>
              <a:rPr lang="en-GB" sz="3200" dirty="0"/>
              <a:t> </a:t>
            </a:r>
          </a:p>
          <a:p>
            <a:pPr algn="ctr"/>
            <a:r>
              <a:rPr lang="en-GB" sz="3200" b="1" dirty="0" smtClean="0"/>
              <a:t>Computer Vision </a:t>
            </a:r>
            <a:r>
              <a:rPr lang="en-GB" sz="3200" b="1" dirty="0"/>
              <a:t>(MSC </a:t>
            </a:r>
            <a:r>
              <a:rPr lang="en-GB" sz="3200" b="1" dirty="0" smtClean="0"/>
              <a:t>7224)</a:t>
            </a:r>
            <a:endParaRPr lang="en-GB" sz="3200" dirty="0"/>
          </a:p>
          <a:p>
            <a:pPr algn="ctr"/>
            <a:r>
              <a:rPr lang="en-GB" sz="3200" b="1" dirty="0"/>
              <a:t>Final Project: </a:t>
            </a:r>
            <a:r>
              <a:rPr lang="en-GB" sz="3200" b="1" dirty="0" smtClean="0"/>
              <a:t>Herbal plant detection and recognition</a:t>
            </a:r>
            <a:endParaRPr lang="en-GB" sz="32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07999"/>
              </p:ext>
            </p:extLst>
          </p:nvPr>
        </p:nvGraphicFramePr>
        <p:xfrm>
          <a:off x="0" y="4036222"/>
          <a:ext cx="12192001" cy="13926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00664"/>
                <a:gridCol w="5099731"/>
                <a:gridCol w="3891606"/>
              </a:tblGrid>
              <a:tr h="7093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  <a:endParaRPr lang="en-GB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</a:rPr>
                        <a:t>RegNo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</a:rPr>
                        <a:t>StdNo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332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err="1">
                          <a:solidFill>
                            <a:schemeClr val="tx1"/>
                          </a:solidFill>
                          <a:effectLst/>
                        </a:rPr>
                        <a:t>Lebuga</a:t>
                      </a:r>
                      <a:r>
                        <a:rPr lang="en-GB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GB" sz="1600" dirty="0" err="1">
                          <a:solidFill>
                            <a:schemeClr val="tx1"/>
                          </a:solidFill>
                          <a:effectLst/>
                        </a:rPr>
                        <a:t>Bosco</a:t>
                      </a:r>
                      <a:endParaRPr lang="en-GB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tx1"/>
                          </a:solidFill>
                          <a:effectLst/>
                        </a:rPr>
                        <a:t>2024/HD05/25333U</a:t>
                      </a:r>
                      <a:endParaRPr lang="en-GB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tx1"/>
                          </a:solidFill>
                          <a:effectLst/>
                        </a:rPr>
                        <a:t>2400725333</a:t>
                      </a:r>
                      <a:endParaRPr lang="en-GB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367815" y="6198669"/>
            <a:ext cx="9981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3"/>
              </a:rPr>
              <a:t>https://</a:t>
            </a:r>
            <a:r>
              <a:rPr lang="en-GB" dirty="0" smtClean="0">
                <a:hlinkClick r:id="rId3"/>
              </a:rPr>
              <a:t>huggingface.co/spaces/Lebuga/herbal-plant-detector</a:t>
            </a:r>
            <a:r>
              <a:rPr lang="en-GB" dirty="0"/>
              <a:t> </a:t>
            </a:r>
            <a:r>
              <a:rPr lang="en-GB" dirty="0" smtClean="0"/>
              <a:t>  : deployment </a:t>
            </a:r>
            <a:r>
              <a:rPr lang="en-GB" dirty="0"/>
              <a:t>link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3263151" y="184666"/>
            <a:ext cx="6607827" cy="757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rgbClr val="632423"/>
              </a:buClr>
              <a:buSzPct val="100000"/>
            </a:pPr>
            <a:r>
              <a:rPr lang="en-US" sz="4500" dirty="0" smtClean="0">
                <a:sym typeface="Arial Rounded"/>
              </a:rPr>
              <a:t>INTRODUCTION</a:t>
            </a:r>
            <a:endParaRPr sz="4500" dirty="0"/>
          </a:p>
        </p:txBody>
      </p:sp>
      <p:sp>
        <p:nvSpPr>
          <p:cNvPr id="109" name="Google Shape;109;p3"/>
          <p:cNvSpPr txBox="1">
            <a:spLocks noGrp="1"/>
          </p:cNvSpPr>
          <p:nvPr>
            <p:ph idx="1"/>
          </p:nvPr>
        </p:nvSpPr>
        <p:spPr>
          <a:xfrm>
            <a:off x="486197" y="1523668"/>
            <a:ext cx="5284403" cy="4821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buFont typeface="Wingdings" panose="05000000000000000000" pitchFamily="2" charset="2"/>
              <a:buChar char="§"/>
            </a:pPr>
            <a:r>
              <a:rPr lang="en-GB" dirty="0"/>
              <a:t>Herbal plants play an important role in </a:t>
            </a:r>
            <a:r>
              <a:rPr lang="en-GB" dirty="0">
                <a:solidFill>
                  <a:srgbClr val="FF0000"/>
                </a:solidFill>
              </a:rPr>
              <a:t>medicine, agriculture, and biodiversity conservation.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GB" dirty="0"/>
              <a:t>Manual plant identification </a:t>
            </a:r>
            <a:r>
              <a:rPr lang="en-GB" dirty="0">
                <a:solidFill>
                  <a:srgbClr val="FF0000"/>
                </a:solidFill>
              </a:rPr>
              <a:t>requires expert knowledge</a:t>
            </a:r>
            <a:r>
              <a:rPr lang="en-GB" dirty="0"/>
              <a:t> and is time-consuming.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rgbClr val="FF0000"/>
                </a:solidFill>
              </a:rPr>
              <a:t>Misidentification</a:t>
            </a:r>
            <a:r>
              <a:rPr lang="en-GB" dirty="0"/>
              <a:t> of medicinal plants can lead to </a:t>
            </a:r>
            <a:r>
              <a:rPr lang="en-GB" dirty="0">
                <a:solidFill>
                  <a:srgbClr val="FF0000"/>
                </a:solidFill>
              </a:rPr>
              <a:t>incorrect usage </a:t>
            </a:r>
            <a:r>
              <a:rPr lang="en-GB" dirty="0"/>
              <a:t>and potential health risks.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GB" dirty="0"/>
              <a:t>Automated detection systems can improve accuracy, efficiency, and accessibility. </a:t>
            </a:r>
          </a:p>
        </p:txBody>
      </p:sp>
      <p:sp>
        <p:nvSpPr>
          <p:cNvPr id="2" name="Google Shape;109;p3">
            <a:extLst>
              <a:ext uri="{FF2B5EF4-FFF2-40B4-BE49-F238E27FC236}">
                <a16:creationId xmlns="" xmlns:a16="http://schemas.microsoft.com/office/drawing/2014/main" id="{01EC6B07-6569-B6A0-3948-E945AB29E102}"/>
              </a:ext>
            </a:extLst>
          </p:cNvPr>
          <p:cNvSpPr txBox="1">
            <a:spLocks/>
          </p:cNvSpPr>
          <p:nvPr/>
        </p:nvSpPr>
        <p:spPr>
          <a:xfrm>
            <a:off x="5919537" y="1395663"/>
            <a:ext cx="5371101" cy="534074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 typeface="Wingdings" panose="05000000000000000000" pitchFamily="2" charset="2"/>
              <a:buChar char="§"/>
            </a:pPr>
            <a:r>
              <a:rPr lang="en-GB" dirty="0"/>
              <a:t>High </a:t>
            </a:r>
            <a:r>
              <a:rPr lang="en-GB" dirty="0">
                <a:solidFill>
                  <a:srgbClr val="FF0000"/>
                </a:solidFill>
              </a:rPr>
              <a:t>visual similarity </a:t>
            </a:r>
            <a:r>
              <a:rPr lang="en-GB" dirty="0"/>
              <a:t>among different herbal plant species.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rgbClr val="FF0000"/>
                </a:solidFill>
              </a:rPr>
              <a:t>Variations in lighting</a:t>
            </a:r>
            <a:r>
              <a:rPr lang="en-GB" dirty="0"/>
              <a:t>, shadows, and weather conditions.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rgbClr val="FF0000"/>
                </a:solidFill>
              </a:rPr>
              <a:t>Complex backgrounds </a:t>
            </a:r>
            <a:r>
              <a:rPr lang="en-GB" dirty="0"/>
              <a:t>and surrounding vegetation.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rgbClr val="FF0000"/>
                </a:solidFill>
              </a:rPr>
              <a:t>Partial occlusion </a:t>
            </a:r>
            <a:r>
              <a:rPr lang="en-GB" dirty="0"/>
              <a:t>of leaves, stems, and plant structures.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GB" dirty="0"/>
              <a:t>Different camera angles, distances, and image quality.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GB" dirty="0"/>
              <a:t>Limited availability of annotated herbal plant datasets.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8404" y="1183907"/>
            <a:ext cx="4379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Motivation</a:t>
            </a:r>
            <a:endParaRPr lang="en-GB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567064" y="1045407"/>
            <a:ext cx="4629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Computer Vision Challenges</a:t>
            </a:r>
            <a:endParaRPr lang="en-GB" dirty="0"/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3419963" y="184666"/>
            <a:ext cx="6607827" cy="12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Clr>
                <a:srgbClr val="632423"/>
              </a:buClr>
              <a:buSzPct val="100000"/>
            </a:pPr>
            <a:r>
              <a:rPr lang="en-US" sz="4500" dirty="0" smtClean="0">
                <a:sym typeface="Arial Rounded"/>
              </a:rPr>
              <a:t>METHODOLOGY</a:t>
            </a:r>
            <a:endParaRPr sz="45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70" y="406998"/>
            <a:ext cx="10337533" cy="6409964"/>
          </a:xfrm>
        </p:spPr>
      </p:pic>
    </p:spTree>
    <p:extLst>
      <p:ext uri="{BB962C8B-B14F-4D97-AF65-F5344CB8AC3E}">
        <p14:creationId xmlns:p14="http://schemas.microsoft.com/office/powerpoint/2010/main" val="1767760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3138023" y="448699"/>
            <a:ext cx="6607827" cy="757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rgbClr val="632423"/>
              </a:buClr>
              <a:buSzPct val="100000"/>
            </a:pPr>
            <a:r>
              <a:rPr lang="en-US" sz="4500" dirty="0" smtClean="0">
                <a:sym typeface="Arial Rounded"/>
              </a:rPr>
              <a:t>RESULTS AND ANALYSIS</a:t>
            </a:r>
            <a:endParaRPr sz="45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0515" y="1161301"/>
            <a:ext cx="50602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Samples of herbal plant images before and after image enhancement</a:t>
            </a:r>
            <a:endParaRPr lang="en-GB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6874041" y="1063720"/>
            <a:ext cx="4446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Image extraction </a:t>
            </a:r>
            <a:r>
              <a:rPr lang="en-GB" sz="1400" i="1" dirty="0" smtClean="0"/>
              <a:t>performed</a:t>
            </a:r>
            <a:r>
              <a:rPr lang="en-GB" dirty="0" smtClean="0"/>
              <a:t> using CNNs</a:t>
            </a:r>
            <a:endParaRPr lang="en-GB" dirty="0"/>
          </a:p>
        </p:txBody>
      </p:sp>
      <p:pic>
        <p:nvPicPr>
          <p:cNvPr id="12" name="Content Placeholder 11" descr="C:\Users\user\Desktop\enhanced imaged.PNG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159" y="1764995"/>
            <a:ext cx="5312059" cy="402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 descr="C:\Users\user\Desktop\extraction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0762" y="1450340"/>
            <a:ext cx="5731510" cy="5054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4798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3138023" y="448699"/>
            <a:ext cx="6607827" cy="757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rgbClr val="632423"/>
              </a:buClr>
              <a:buSzPct val="100000"/>
            </a:pPr>
            <a:r>
              <a:rPr lang="en-US" sz="4500" dirty="0" smtClean="0">
                <a:sym typeface="Arial Rounded"/>
              </a:rPr>
              <a:t>RESULTS AND ANALYSIS</a:t>
            </a:r>
            <a:endParaRPr sz="45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1650" y="1291928"/>
            <a:ext cx="2956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Overall </a:t>
            </a:r>
            <a:r>
              <a:rPr lang="en-GB" dirty="0" smtClean="0"/>
              <a:t>performance Yolov8 </a:t>
            </a:r>
            <a:endParaRPr lang="en-GB" b="1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6241791"/>
              </p:ext>
            </p:extLst>
          </p:nvPr>
        </p:nvGraphicFramePr>
        <p:xfrm>
          <a:off x="264816" y="1722045"/>
          <a:ext cx="2554583" cy="14886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3824"/>
                <a:gridCol w="1330759"/>
              </a:tblGrid>
              <a:tr h="184150"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tx1"/>
                          </a:solidFill>
                          <a:effectLst/>
                        </a:rPr>
                        <a:t>Metric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tx1"/>
                          </a:solidFill>
                          <a:effectLst/>
                        </a:rPr>
                        <a:t>Value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705"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tx1"/>
                          </a:solidFill>
                          <a:effectLst/>
                        </a:rPr>
                        <a:t>Precision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GB" sz="1000">
                          <a:solidFill>
                            <a:schemeClr val="tx1"/>
                          </a:solidFill>
                          <a:effectLst/>
                        </a:rPr>
                        <a:t>0.8600423505381747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tx1"/>
                          </a:solidFill>
                          <a:effectLst/>
                        </a:rPr>
                        <a:t>Recall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GB" sz="1000">
                          <a:solidFill>
                            <a:schemeClr val="tx1"/>
                          </a:solidFill>
                          <a:effectLst/>
                        </a:rPr>
                        <a:t>0.8848941989838961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tx1"/>
                          </a:solidFill>
                          <a:effectLst/>
                        </a:rPr>
                        <a:t>mAP@0.5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GB" sz="1000">
                          <a:solidFill>
                            <a:schemeClr val="tx1"/>
                          </a:solidFill>
                          <a:effectLst/>
                        </a:rPr>
                        <a:t>0.9026508411087439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tx1"/>
                          </a:solidFill>
                          <a:effectLst/>
                        </a:rPr>
                        <a:t>mAP@0.5:0.95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  <a:effectLst/>
                        </a:rPr>
                        <a:t>0.6387935006641632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C:\Users\user\Downloads\results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5120" y="1426826"/>
            <a:ext cx="8884920" cy="466136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599153" y="1107262"/>
            <a:ext cx="454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Training performance curves</a:t>
            </a:r>
          </a:p>
        </p:txBody>
      </p:sp>
    </p:spTree>
    <p:extLst>
      <p:ext uri="{BB962C8B-B14F-4D97-AF65-F5344CB8AC3E}">
        <p14:creationId xmlns:p14="http://schemas.microsoft.com/office/powerpoint/2010/main" val="2449974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3138023" y="276424"/>
            <a:ext cx="6607827" cy="51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Clr>
                <a:srgbClr val="632423"/>
              </a:buClr>
              <a:buSzPct val="100000"/>
            </a:pPr>
            <a:r>
              <a:rPr lang="en-US" sz="4500" dirty="0" smtClean="0">
                <a:sym typeface="Arial Rounded"/>
              </a:rPr>
              <a:t>RESULTS AND ANALYSIS</a:t>
            </a:r>
            <a:endParaRPr sz="45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" name="Picture 16" descr="C:\Users\user\Downloads\confusion_matrix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97274"/>
            <a:ext cx="6066790" cy="4550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 descr="C:\Users\user\Downloads\BoxPR_curve.pn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8340" y="787649"/>
            <a:ext cx="6324600" cy="4216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5239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3138023" y="276424"/>
            <a:ext cx="6607827" cy="51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Clr>
                <a:srgbClr val="632423"/>
              </a:buClr>
              <a:buSzPct val="100000"/>
            </a:pPr>
            <a:r>
              <a:rPr lang="en-US" sz="4500" dirty="0" smtClean="0">
                <a:sym typeface="Arial Rounded"/>
              </a:rPr>
              <a:t>RESULTS AND ANALYSIS</a:t>
            </a:r>
            <a:endParaRPr sz="45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 descr="C:\Users\user\Downloads\BoxR_curve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9" y="992386"/>
            <a:ext cx="5731510" cy="3820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C:\Users\user\Downloads\BoxP_curve.pn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1936" y="992385"/>
            <a:ext cx="5731510" cy="38207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2436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3138023" y="276424"/>
            <a:ext cx="6607827" cy="51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Clr>
                <a:srgbClr val="632423"/>
              </a:buClr>
              <a:buSzPct val="100000"/>
            </a:pPr>
            <a:r>
              <a:rPr lang="en-US" sz="4500" dirty="0" smtClean="0">
                <a:sym typeface="Arial Rounded"/>
              </a:rPr>
              <a:t>RESULTS AND ANALYSIS</a:t>
            </a:r>
            <a:endParaRPr sz="45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140158"/>
              </p:ext>
            </p:extLst>
          </p:nvPr>
        </p:nvGraphicFramePr>
        <p:xfrm>
          <a:off x="755999" y="1196340"/>
          <a:ext cx="5477162" cy="7156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38581"/>
                <a:gridCol w="2738581"/>
              </a:tblGrid>
              <a:tr h="31115"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tx1"/>
                          </a:solidFill>
                          <a:effectLst/>
                        </a:rPr>
                        <a:t>Metric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tx1"/>
                          </a:solidFill>
                          <a:effectLst/>
                        </a:rPr>
                        <a:t>Value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705"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tx1"/>
                          </a:solidFill>
                          <a:effectLst/>
                        </a:rPr>
                        <a:t>Precision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GB" sz="1000">
                          <a:solidFill>
                            <a:schemeClr val="tx1"/>
                          </a:solidFill>
                          <a:effectLst/>
                        </a:rPr>
                        <a:t>0.3440860178055267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tx1"/>
                          </a:solidFill>
                          <a:effectLst/>
                        </a:rPr>
                        <a:t>Recall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GB" sz="1000">
                          <a:solidFill>
                            <a:schemeClr val="tx1"/>
                          </a:solidFill>
                          <a:effectLst/>
                        </a:rPr>
                        <a:t>0.969696940312214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tx1"/>
                          </a:solidFill>
                          <a:effectLst/>
                        </a:rPr>
                        <a:t>F1 Score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  <a:effectLst/>
                        </a:rPr>
                        <a:t>0.5079361132529994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3111039186"/>
              </p:ext>
            </p:extLst>
          </p:nvPr>
        </p:nvGraphicFramePr>
        <p:xfrm>
          <a:off x="891540" y="2403089"/>
          <a:ext cx="5108575" cy="3206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898592"/>
              </p:ext>
            </p:extLst>
          </p:nvPr>
        </p:nvGraphicFramePr>
        <p:xfrm>
          <a:off x="7299961" y="1283732"/>
          <a:ext cx="4453115" cy="1005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4207"/>
                <a:gridCol w="1484207"/>
                <a:gridCol w="1484701"/>
              </a:tblGrid>
              <a:tr h="68262"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tx1"/>
                          </a:solidFill>
                          <a:effectLst/>
                        </a:rPr>
                        <a:t>Metric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tx1"/>
                          </a:solidFill>
                          <a:effectLst/>
                        </a:rPr>
                        <a:t>Yolov8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tx1"/>
                          </a:solidFill>
                          <a:effectLst/>
                        </a:rPr>
                        <a:t>Faster R-CNN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tx1"/>
                          </a:solidFill>
                          <a:effectLst/>
                        </a:rPr>
                        <a:t>Precision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tx1"/>
                          </a:solidFill>
                          <a:effectLst/>
                        </a:rPr>
                        <a:t>0.8600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tx1"/>
                          </a:solidFill>
                          <a:effectLst/>
                        </a:rPr>
                        <a:t>0.3441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tx1"/>
                          </a:solidFill>
                          <a:effectLst/>
                        </a:rPr>
                        <a:t>Recall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tx1"/>
                          </a:solidFill>
                          <a:effectLst/>
                        </a:rPr>
                        <a:t>0.8849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tx1"/>
                          </a:solidFill>
                          <a:effectLst/>
                        </a:rPr>
                        <a:t>0.9697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tx1"/>
                          </a:solidFill>
                          <a:effectLst/>
                        </a:rPr>
                        <a:t>mAP@0.5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tx1"/>
                          </a:solidFill>
                          <a:effectLst/>
                        </a:rPr>
                        <a:t>0.9027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tx1"/>
                          </a:solidFill>
                          <a:effectLst/>
                        </a:rPr>
                        <a:t>mAP@0.5:0.95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tx1"/>
                          </a:solidFill>
                          <a:effectLst/>
                        </a:rPr>
                        <a:t>0.6388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tx1"/>
                          </a:solidFill>
                          <a:effectLst/>
                        </a:rPr>
                        <a:t>F1 Score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tx1"/>
                          </a:solidFill>
                          <a:effectLst/>
                        </a:rPr>
                        <a:t>0.5079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1540" y="914400"/>
            <a:ext cx="438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Overall </a:t>
            </a:r>
            <a:r>
              <a:rPr lang="en-GB" dirty="0" smtClean="0"/>
              <a:t>Performance Faster R-CNN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7528560" y="914400"/>
            <a:ext cx="3863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Model Comparison</a:t>
            </a:r>
          </a:p>
        </p:txBody>
      </p:sp>
    </p:spTree>
    <p:extLst>
      <p:ext uri="{BB962C8B-B14F-4D97-AF65-F5344CB8AC3E}">
        <p14:creationId xmlns:p14="http://schemas.microsoft.com/office/powerpoint/2010/main" val="2106331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2726543" y="-70947"/>
            <a:ext cx="6607827" cy="51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Clr>
                <a:srgbClr val="632423"/>
              </a:buClr>
              <a:buSzPct val="100000"/>
            </a:pPr>
            <a:r>
              <a:rPr lang="en-US" sz="4500" dirty="0" smtClean="0">
                <a:sym typeface="Arial Rounded"/>
              </a:rPr>
              <a:t>RESULTS AND ANALYSIS</a:t>
            </a:r>
            <a:endParaRPr sz="45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6373" y="347945"/>
            <a:ext cx="438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Yolov8 Validation Batch 0 Predictions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6572120" y="347945"/>
            <a:ext cx="3863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Validation Batch 1 Prediction Results</a:t>
            </a:r>
            <a:endParaRPr lang="en-GB" dirty="0"/>
          </a:p>
        </p:txBody>
      </p:sp>
      <p:pic>
        <p:nvPicPr>
          <p:cNvPr id="9" name="Picture 8" descr="C:\Users\user\Downloads\val_batch0_pred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816" y="624944"/>
            <a:ext cx="5298440" cy="4552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C:\Users\user\Downloads\val_batch1_pred.jp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3425" y="624944"/>
            <a:ext cx="5731510" cy="53872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9979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2726543" y="-70947"/>
            <a:ext cx="6607827" cy="51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Clr>
                <a:srgbClr val="632423"/>
              </a:buClr>
              <a:buSzPct val="100000"/>
            </a:pPr>
            <a:r>
              <a:rPr lang="en-US" sz="4500" dirty="0" smtClean="0">
                <a:sym typeface="Arial Rounded"/>
              </a:rPr>
              <a:t>RESULTS AND ANALYSIS</a:t>
            </a:r>
            <a:endParaRPr sz="45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45233" y="543178"/>
            <a:ext cx="438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 smtClean="0"/>
              <a:t>Deplpyed</a:t>
            </a:r>
            <a:r>
              <a:rPr lang="en-GB" b="1" dirty="0" smtClean="0"/>
              <a:t> model User Interface</a:t>
            </a:r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821" y="912510"/>
            <a:ext cx="8015344" cy="490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777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2726543" y="-70947"/>
            <a:ext cx="6607827" cy="51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Clr>
                <a:srgbClr val="632423"/>
              </a:buClr>
              <a:buSzPct val="100000"/>
            </a:pPr>
            <a:r>
              <a:rPr lang="en-US" sz="4500" dirty="0" smtClean="0">
                <a:sym typeface="Arial Rounded"/>
              </a:rPr>
              <a:t>RESULTS AND ANALYSIS</a:t>
            </a:r>
            <a:endParaRPr sz="45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45233" y="543178"/>
            <a:ext cx="438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 smtClean="0"/>
              <a:t>Deplpyed</a:t>
            </a:r>
            <a:r>
              <a:rPr lang="en-GB" b="1" dirty="0" smtClean="0"/>
              <a:t> model User Interface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069" y="1405139"/>
            <a:ext cx="5484550" cy="38602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529" y="1519438"/>
            <a:ext cx="5501879" cy="374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620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3116239" y="102251"/>
            <a:ext cx="6607827" cy="484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rgbClr val="632423"/>
              </a:buClr>
              <a:buSzPct val="100000"/>
            </a:pPr>
            <a:r>
              <a:rPr lang="en-US" sz="2800" dirty="0" err="1" smtClean="0">
                <a:sym typeface="Arial Rounded"/>
              </a:rPr>
              <a:t>Conlcusions</a:t>
            </a:r>
            <a:r>
              <a:rPr lang="en-US" sz="2800" dirty="0" smtClean="0">
                <a:sym typeface="Arial Rounded"/>
              </a:rPr>
              <a:t>, recommendations and future work</a:t>
            </a:r>
            <a:endParaRPr sz="2800" dirty="0"/>
          </a:p>
        </p:txBody>
      </p:sp>
      <p:sp>
        <p:nvSpPr>
          <p:cNvPr id="109" name="Google Shape;109;p3"/>
          <p:cNvSpPr txBox="1">
            <a:spLocks noGrp="1"/>
          </p:cNvSpPr>
          <p:nvPr>
            <p:ph idx="1"/>
          </p:nvPr>
        </p:nvSpPr>
        <p:spPr>
          <a:xfrm>
            <a:off x="264816" y="754733"/>
            <a:ext cx="5702847" cy="6103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GB" b="1" dirty="0"/>
              <a:t>Conclusion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/>
              <a:t>This study successfully </a:t>
            </a:r>
            <a:r>
              <a:rPr lang="en-GB" dirty="0">
                <a:solidFill>
                  <a:srgbClr val="FF0000"/>
                </a:solidFill>
              </a:rPr>
              <a:t>developed an intelligent deep learning framework</a:t>
            </a:r>
            <a:r>
              <a:rPr lang="en-GB" dirty="0"/>
              <a:t> for herbal plant detection in natural environments using image enhancement techniques and the YOLOv8 object detection model. </a:t>
            </a:r>
            <a:endParaRPr lang="en-GB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GB" dirty="0" smtClean="0"/>
              <a:t>The </a:t>
            </a:r>
            <a:r>
              <a:rPr lang="en-GB" dirty="0"/>
              <a:t>proposed framework </a:t>
            </a:r>
            <a:r>
              <a:rPr lang="en-GB" dirty="0">
                <a:solidFill>
                  <a:srgbClr val="FF0000"/>
                </a:solidFill>
              </a:rPr>
              <a:t>effectively </a:t>
            </a:r>
            <a:r>
              <a:rPr lang="en-GB" dirty="0" err="1" smtClean="0">
                <a:solidFill>
                  <a:srgbClr val="FF0000"/>
                </a:solidFill>
              </a:rPr>
              <a:t>achievied</a:t>
            </a:r>
            <a:r>
              <a:rPr lang="en-GB" dirty="0" smtClean="0">
                <a:solidFill>
                  <a:srgbClr val="FF0000"/>
                </a:solidFill>
              </a:rPr>
              <a:t> </a:t>
            </a:r>
            <a:r>
              <a:rPr lang="en-GB" dirty="0">
                <a:solidFill>
                  <a:srgbClr val="FF0000"/>
                </a:solidFill>
              </a:rPr>
              <a:t>strong detection performance </a:t>
            </a:r>
            <a:r>
              <a:rPr lang="en-GB" dirty="0"/>
              <a:t>with a precision of 86.00%, recall of 88.49%, mAP@0.5 of 90.27%, and mAP@0.5:0.95 of 63.88%. </a:t>
            </a:r>
            <a:endParaRPr lang="en-GB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GB" dirty="0" smtClean="0"/>
              <a:t>Validation </a:t>
            </a:r>
            <a:r>
              <a:rPr lang="en-GB" dirty="0"/>
              <a:t>results </a:t>
            </a:r>
            <a:r>
              <a:rPr lang="en-GB" dirty="0">
                <a:solidFill>
                  <a:srgbClr val="FF0000"/>
                </a:solidFill>
              </a:rPr>
              <a:t>demonstrated accurate localization and classification</a:t>
            </a:r>
            <a:r>
              <a:rPr lang="en-GB" dirty="0"/>
              <a:t> of multiple herbal plant species under varying environmental conditions, </a:t>
            </a:r>
          </a:p>
        </p:txBody>
      </p:sp>
      <p:sp>
        <p:nvSpPr>
          <p:cNvPr id="2" name="Google Shape;109;p3">
            <a:extLst>
              <a:ext uri="{FF2B5EF4-FFF2-40B4-BE49-F238E27FC236}">
                <a16:creationId xmlns="" xmlns:a16="http://schemas.microsoft.com/office/drawing/2014/main" id="{01EC6B07-6569-B6A0-3948-E945AB29E102}"/>
              </a:ext>
            </a:extLst>
          </p:cNvPr>
          <p:cNvSpPr txBox="1">
            <a:spLocks/>
          </p:cNvSpPr>
          <p:nvPr/>
        </p:nvSpPr>
        <p:spPr>
          <a:xfrm>
            <a:off x="5967663" y="662940"/>
            <a:ext cx="5371101" cy="581539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Recommendations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/>
              <a:t>T</a:t>
            </a:r>
            <a:r>
              <a:rPr lang="en-GB" dirty="0" smtClean="0"/>
              <a:t>he </a:t>
            </a:r>
            <a:r>
              <a:rPr lang="en-GB" dirty="0"/>
              <a:t>developed YOLOv8-based herbal plant detection </a:t>
            </a:r>
            <a:r>
              <a:rPr lang="en-GB" b="1" dirty="0">
                <a:solidFill>
                  <a:srgbClr val="FF0000"/>
                </a:solidFill>
              </a:rPr>
              <a:t>system be adopted </a:t>
            </a:r>
            <a:r>
              <a:rPr lang="en-GB" dirty="0"/>
              <a:t>as a supporting tool for herbal plant identification in </a:t>
            </a:r>
            <a:r>
              <a:rPr lang="en-GB" dirty="0" smtClean="0"/>
              <a:t>Furthermore</a:t>
            </a:r>
            <a:r>
              <a:rPr lang="en-GB" dirty="0"/>
              <a:t>, the framework should be deployed through </a:t>
            </a:r>
            <a:r>
              <a:rPr lang="en-GB" dirty="0">
                <a:solidFill>
                  <a:srgbClr val="FF0000"/>
                </a:solidFill>
              </a:rPr>
              <a:t>mobile or web-based applications to enable real-time </a:t>
            </a:r>
            <a:r>
              <a:rPr lang="en-GB" dirty="0"/>
              <a:t>field identification and promote practical </a:t>
            </a:r>
            <a:r>
              <a:rPr lang="en-GB" dirty="0" smtClean="0"/>
              <a:t>use</a:t>
            </a:r>
          </a:p>
          <a:p>
            <a:r>
              <a:rPr lang="en-GB" b="1" dirty="0"/>
              <a:t>Future Work</a:t>
            </a:r>
          </a:p>
          <a:p>
            <a:r>
              <a:rPr lang="en-GB" dirty="0" smtClean="0"/>
              <a:t>improving </a:t>
            </a:r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technical capabilities of the proposed framework </a:t>
            </a:r>
            <a:r>
              <a:rPr lang="en-GB" dirty="0"/>
              <a:t>by investigating advanced deep learning architectures, such as attention-based and transformer-based object detection models. </a:t>
            </a:r>
            <a:endParaRPr lang="en-GB" dirty="0" smtClean="0"/>
          </a:p>
          <a:p>
            <a:r>
              <a:rPr lang="en-GB" dirty="0" smtClean="0"/>
              <a:t>Additional </a:t>
            </a:r>
            <a:r>
              <a:rPr lang="en-GB" dirty="0"/>
              <a:t>studies should explore methods for </a:t>
            </a:r>
            <a:r>
              <a:rPr lang="en-GB" dirty="0">
                <a:solidFill>
                  <a:srgbClr val="FF0000"/>
                </a:solidFill>
              </a:rPr>
              <a:t>detecting small, partially occluded, and visually similar plant species</a:t>
            </a:r>
            <a:r>
              <a:rPr lang="en-GB" dirty="0"/>
              <a:t>, as well as integrating multimodal data sources such as spectral imagery and plant morphological </a:t>
            </a:r>
            <a:r>
              <a:rPr lang="en-GB" dirty="0" smtClean="0"/>
              <a:t>features.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305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3310</TotalTime>
  <Words>427</Words>
  <Application>Microsoft Office PowerPoint</Application>
  <PresentationFormat>Widescreen</PresentationFormat>
  <Paragraphs>93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Arial Rounded</vt:lpstr>
      <vt:lpstr>Calibri</vt:lpstr>
      <vt:lpstr>Times New Roman</vt:lpstr>
      <vt:lpstr>Tw Cen MT</vt:lpstr>
      <vt:lpstr>Tw Cen MT Condensed</vt:lpstr>
      <vt:lpstr>Wingdings</vt:lpstr>
      <vt:lpstr>Wingdings 3</vt:lpstr>
      <vt:lpstr>Integral</vt:lpstr>
      <vt:lpstr>PowerPoint Presentation</vt:lpstr>
      <vt:lpstr>INTRODUCTION</vt:lpstr>
      <vt:lpstr>METHODOLOGY</vt:lpstr>
      <vt:lpstr>RESULTS AND ANALYSIS</vt:lpstr>
      <vt:lpstr>RESULTS AND ANALYSIS</vt:lpstr>
      <vt:lpstr>RESULTS AND ANALYSIS</vt:lpstr>
      <vt:lpstr>RESULTS AND ANALYSIS</vt:lpstr>
      <vt:lpstr>RESULTS AND ANALYSIS</vt:lpstr>
      <vt:lpstr>RESULTS AND ANALYSIS</vt:lpstr>
      <vt:lpstr>RESULTS AND ANALYSIS</vt:lpstr>
      <vt:lpstr>RESULTS AND ANALYSIS</vt:lpstr>
      <vt:lpstr>Conlcusions, recommendations and future work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Ggaliwango Marvin</dc:creator>
  <cp:lastModifiedBy>user</cp:lastModifiedBy>
  <cp:revision>152</cp:revision>
  <dcterms:created xsi:type="dcterms:W3CDTF">2006-08-16T00:00:00Z</dcterms:created>
  <dcterms:modified xsi:type="dcterms:W3CDTF">2026-06-06T12:57:56Z</dcterms:modified>
</cp:coreProperties>
</file>